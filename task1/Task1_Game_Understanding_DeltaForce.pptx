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6070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35C4FF"/>
                </a:solidFill>
                <a:latin typeface="Segoe UI"/>
              </a:rPr>
              <a:t>EKLIPSE AI DATA OPTIMIZATION TEST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ECF0F6"/>
                </a:solidFill>
                <a:latin typeface="Segoe UI"/>
              </a:rPr>
              <a:t>Task 1: Game Understanding</a:t>
            </a:r>
          </a:p>
          <a:p>
            <a:pPr algn="l">
              <a:spcBef>
                <a:spcPts val="0"/>
              </a:spcBef>
              <a:spcAft>
                <a:spcPts val="1800"/>
              </a:spcAft>
            </a:pPr>
            <a:r>
              <a:rPr sz="2200" b="0" i="0">
                <a:solidFill>
                  <a:srgbClr val="9AA6B8"/>
                </a:solidFill>
                <a:latin typeface="Segoe UI"/>
              </a:rPr>
              <a:t>Automated Gameplay Clip Detection for Content Creators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93776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ECF0F6"/>
                </a:solidFill>
                <a:latin typeface="Segoe UI"/>
              </a:rPr>
              <a:t>Game: Garena Delta Force   |   Genre: Tactical FPS (Extraction + Large-Scale Warfare)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6B8"/>
                </a:solidFill>
                <a:latin typeface="Segoe UI"/>
              </a:rPr>
              <a:t>Prepared by: &lt;Nama Anda&gt;   |   Modes analysed: Operations (Hazard Ops) &amp; Warfare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B300"/>
                </a:solidFill>
                <a:latin typeface="Segoe UI"/>
              </a:rPr>
              <a:t>STEP 1 — GAME SELECTION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CF0F6"/>
                </a:solidFill>
                <a:latin typeface="Segoe UI"/>
              </a:rPr>
              <a:t>Garena Delta Force — Tactical FPS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78992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94960" cy="484632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08760"/>
            <a:ext cx="4937760" cy="33701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 dirty="0">
                <a:solidFill>
                  <a:srgbClr val="FFB300"/>
                </a:solidFill>
                <a:latin typeface="Segoe UI"/>
              </a:rPr>
              <a:t>Game Profile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1" i="0" dirty="0">
                <a:solidFill>
                  <a:srgbClr val="35C4FF"/>
                </a:solidFill>
                <a:latin typeface="Segoe UI"/>
              </a:rPr>
              <a:t>Title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 err="1">
                <a:solidFill>
                  <a:srgbClr val="ECF0F6"/>
                </a:solidFill>
                <a:latin typeface="Segoe UI"/>
              </a:rPr>
              <a:t>Garena</a:t>
            </a:r>
            <a:r>
              <a:rPr sz="1500" b="0" i="0" dirty="0">
                <a:solidFill>
                  <a:srgbClr val="ECF0F6"/>
                </a:solidFill>
                <a:latin typeface="Segoe UI"/>
              </a:rPr>
              <a:t> Delta Force </a:t>
            </a:r>
            <a:endParaRPr lang="en-US" sz="1500" dirty="0">
              <a:solidFill>
                <a:srgbClr val="ECF0F6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00" b="1" i="0" dirty="0">
                <a:solidFill>
                  <a:srgbClr val="35C4FF"/>
                </a:solidFill>
                <a:latin typeface="Segoe UI"/>
              </a:rPr>
              <a:t>Genre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ECF0F6"/>
                </a:solidFill>
                <a:latin typeface="Segoe UI"/>
              </a:rPr>
              <a:t>Tactical First-Person Shooter (FPS)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1" i="0" dirty="0">
                <a:solidFill>
                  <a:srgbClr val="35C4FF"/>
                </a:solidFill>
                <a:latin typeface="Segoe UI"/>
              </a:rPr>
              <a:t>Sub-genre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ECF0F6"/>
                </a:solidFill>
                <a:latin typeface="Segoe UI"/>
              </a:rPr>
              <a:t>Hero-shooter w/ class-based Operators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1" i="0" dirty="0">
                <a:solidFill>
                  <a:srgbClr val="35C4FF"/>
                </a:solidFill>
                <a:latin typeface="Segoe UI"/>
              </a:rPr>
              <a:t>Platforms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ECF0F6"/>
                </a:solidFill>
                <a:latin typeface="Segoe UI"/>
              </a:rPr>
              <a:t>PC &amp; Mobile (cross-progression)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400" b="1" i="0" dirty="0">
                <a:solidFill>
                  <a:srgbClr val="35C4FF"/>
                </a:solidFill>
                <a:latin typeface="Segoe UI"/>
              </a:rPr>
              <a:t>Why relevant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0" i="0" dirty="0">
                <a:solidFill>
                  <a:srgbClr val="ECF0F6"/>
                </a:solidFill>
                <a:latin typeface="Segoe UI"/>
              </a:rPr>
              <a:t>Fast-growing title with high clip-worthy moments for streamers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394960" cy="233172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481328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B300"/>
                </a:solidFill>
                <a:latin typeface="Segoe UI"/>
              </a:rPr>
              <a:t>MODE A — Operations (Hazard Ops)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Extraction shooter: drop in, loot high-value gear (incl. MandelBrick), fight AI + rival squads, and extract alive. High-stakes, gear-on-the-line tension.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886200"/>
            <a:ext cx="5394960" cy="233172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3995928"/>
            <a:ext cx="4937760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B300"/>
                </a:solidFill>
                <a:latin typeface="Segoe UI"/>
              </a:rPr>
              <a:t>MODE B — Warfare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Massive-scale multiplayer (infantry + vehicles like tanks/helis) fighting over objectives. Big team plays, vehicle dominance, and round-deciding clutches.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B300"/>
                </a:solidFill>
                <a:latin typeface="Segoe UI"/>
              </a:rPr>
              <a:t>STEP 2 — OBSERVATION &amp; DETECTION APPROACH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CF0F6"/>
                </a:solidFill>
                <a:latin typeface="Segoe UI"/>
              </a:rPr>
              <a:t>How Events Are Detected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78992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6B8"/>
                </a:solidFill>
                <a:latin typeface="Segoe UI"/>
              </a:rPr>
              <a:t>Based on 30+ minutes of gameplay footage across Operations &amp; Warfare. Detection fuses 3 signal layers; an event only fires when ≥2 layers agree (sensor fusion) to keep false positives low.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148840"/>
            <a:ext cx="3611880" cy="3977639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2148840"/>
            <a:ext cx="3611880" cy="635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2331720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B300"/>
                </a:solidFill>
                <a:latin typeface="Segoe UI"/>
              </a:rPr>
              <a:t>1 · UI / HUD Layer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Template-match HUD widgets (kill feed, timers, vehicle HUD, ability icons).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OCR on text: kill feed names, 'OVERTIME', decode timer, objective banners.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Watch state changes: ability ready→on-cooldown, teammate alive→dead.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2148840"/>
            <a:ext cx="3611880" cy="3977639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70248" y="2148840"/>
            <a:ext cx="3611880" cy="63500"/>
          </a:xfrm>
          <a:prstGeom prst="roundRect">
            <a:avLst/>
          </a:prstGeom>
          <a:solidFill>
            <a:srgbClr val="35C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71416" y="2331720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35C4FF"/>
                </a:solidFill>
                <a:latin typeface="Segoe UI"/>
              </a:rPr>
              <a:t>2 · Audio Layer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Kill-confirm / hitmarker stings, ability activation SFX &amp; voice lines.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Announcer cues (overtime sting), music intensity ramps.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Tank cannon fire &amp; vehicle engine ambience.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2148840"/>
            <a:ext cx="3611880" cy="3977639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991856" y="2148840"/>
            <a:ext cx="3611880" cy="63500"/>
          </a:xfrm>
          <a:prstGeom prst="roundRect">
            <a:avLst/>
          </a:prstGeom>
          <a:solidFill>
            <a:srgbClr val="49D6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93024" y="2331720"/>
            <a:ext cx="32004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49D68B"/>
                </a:solidFill>
                <a:latin typeface="Segoe UI"/>
              </a:rPr>
              <a:t>3 · Scene / State Layer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Scene transitions: entering vehicle, last-alive, match-result screen.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Objective-state changes (capture / decode complete / extraction).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ECF0F6"/>
                </a:solidFill>
                <a:latin typeface="Segoe UI"/>
              </a:rPr>
              <a:t>•  Combat density (gunfire + damage indicators) spikes.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B300"/>
                </a:solidFill>
                <a:latin typeface="Segoe UI"/>
              </a:rPr>
              <a:t>STEP 3 — EVENT MAP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CF0F6"/>
                </a:solidFill>
                <a:latin typeface="Segoe UI"/>
              </a:rPr>
              <a:t>6 Clip-Worthy Events Identified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78992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48640" cy="50292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486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141C"/>
                </a:solidFill>
                <a:latin typeface="Segoe UI"/>
              </a:rPr>
              <a:t>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417320"/>
            <a:ext cx="3383280" cy="50292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33832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141C"/>
                </a:solidFill>
                <a:latin typeface="Segoe UI"/>
              </a:rPr>
              <a:t>Event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417320"/>
            <a:ext cx="1554480" cy="50292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417320"/>
            <a:ext cx="1554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141C"/>
                </a:solidFill>
                <a:latin typeface="Segoe UI"/>
              </a:rPr>
              <a:t>Mode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17320"/>
            <a:ext cx="2651760" cy="50292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35040" y="1417320"/>
            <a:ext cx="2651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141C"/>
                </a:solidFill>
                <a:latin typeface="Segoe UI"/>
              </a:rPr>
              <a:t>Primary Signal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417320"/>
            <a:ext cx="2926080" cy="50292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0" y="1417320"/>
            <a:ext cx="29260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10141C"/>
                </a:solidFill>
                <a:latin typeface="Segoe UI"/>
              </a:rPr>
              <a:t>Why It Matters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1920240"/>
            <a:ext cx="54864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3504" y="1920240"/>
            <a:ext cx="4389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1920240"/>
            <a:ext cx="338328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152144" y="1920240"/>
            <a:ext cx="3273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CF0F6"/>
                </a:solidFill>
                <a:latin typeface="Segoe UI"/>
              </a:rPr>
              <a:t>MandelBrick Contest &amp; Decoding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920240"/>
            <a:ext cx="155448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35424" y="1920240"/>
            <a:ext cx="14447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Operations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1920240"/>
            <a:ext cx="265176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9904" y="1920240"/>
            <a:ext cx="25420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UI timer + combat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1920240"/>
            <a:ext cx="292608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41664" y="1920240"/>
            <a:ext cx="28163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Highest-stakes objective fight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2633472"/>
            <a:ext cx="54864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03504" y="2633472"/>
            <a:ext cx="4389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97280" y="2633472"/>
            <a:ext cx="338328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52144" y="2633472"/>
            <a:ext cx="3273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CF0F6"/>
                </a:solidFill>
                <a:latin typeface="Segoe UI"/>
              </a:rPr>
              <a:t>Solo Squad Wipe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80560" y="2633472"/>
            <a:ext cx="155448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35424" y="2633472"/>
            <a:ext cx="14447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Operations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2633472"/>
            <a:ext cx="265176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89904" y="2633472"/>
            <a:ext cx="25420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Kill feed burst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686800" y="2633472"/>
            <a:ext cx="292608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741664" y="2633472"/>
            <a:ext cx="28163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Pure individual skill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3346704"/>
            <a:ext cx="54864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" y="3346704"/>
            <a:ext cx="4389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97280" y="3346704"/>
            <a:ext cx="338328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152144" y="3346704"/>
            <a:ext cx="3273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CF0F6"/>
                </a:solidFill>
                <a:latin typeface="Segoe UI"/>
              </a:rPr>
              <a:t>Tank Multi-Kill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480560" y="3346704"/>
            <a:ext cx="155448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535424" y="3346704"/>
            <a:ext cx="14447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Warfare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35040" y="3346704"/>
            <a:ext cx="265176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089904" y="3346704"/>
            <a:ext cx="25420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Vehicle HUD + kill feed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3346704"/>
            <a:ext cx="292608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741664" y="3346704"/>
            <a:ext cx="28163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Spectacular vehicle dominance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4059936"/>
            <a:ext cx="54864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03504" y="4059936"/>
            <a:ext cx="4389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4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97280" y="4059936"/>
            <a:ext cx="338328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52144" y="4059936"/>
            <a:ext cx="3273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CF0F6"/>
                </a:solidFill>
                <a:latin typeface="Segoe UI"/>
              </a:rPr>
              <a:t>Operator Skill Combo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480560" y="4059936"/>
            <a:ext cx="155448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535424" y="4059936"/>
            <a:ext cx="14447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Warfare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035040" y="4059936"/>
            <a:ext cx="265176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089904" y="4059936"/>
            <a:ext cx="25420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Ability VFX/SFX + kills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686800" y="4059936"/>
            <a:ext cx="292608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8741664" y="4059936"/>
            <a:ext cx="28163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Tactical depth &amp; teamplay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48640" y="4773168"/>
            <a:ext cx="54864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03504" y="4773168"/>
            <a:ext cx="4389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5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097280" y="4773168"/>
            <a:ext cx="338328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152144" y="4773168"/>
            <a:ext cx="3273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CF0F6"/>
                </a:solidFill>
                <a:latin typeface="Segoe UI"/>
              </a:rPr>
              <a:t>Clutch 1v4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480560" y="4773168"/>
            <a:ext cx="155448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4535424" y="4773168"/>
            <a:ext cx="14447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Both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035040" y="4773168"/>
            <a:ext cx="265176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089904" y="4773168"/>
            <a:ext cx="25420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Last-alive + kills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8686800" y="4773168"/>
            <a:ext cx="2926080" cy="713232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741664" y="4773168"/>
            <a:ext cx="28163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Against-the-odds hero moment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48640" y="5486400"/>
            <a:ext cx="54864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603504" y="5486400"/>
            <a:ext cx="43891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6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97280" y="5486400"/>
            <a:ext cx="338328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152144" y="5486400"/>
            <a:ext cx="32735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CF0F6"/>
                </a:solidFill>
                <a:latin typeface="Segoe UI"/>
              </a:rPr>
              <a:t>Clutch in Overtime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480560" y="5486400"/>
            <a:ext cx="155448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4535424" y="5486400"/>
            <a:ext cx="14447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Warfare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6035040" y="5486400"/>
            <a:ext cx="265176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6089904" y="5486400"/>
            <a:ext cx="254203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'OVERTIME' + decisive play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686800" y="5486400"/>
            <a:ext cx="2926080" cy="713232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741664" y="5486400"/>
            <a:ext cx="2816352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Maximum drama / match-decider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B300"/>
                </a:solidFill>
                <a:latin typeface="Segoe UI"/>
              </a:rPr>
              <a:t>EVENT 1 · OPERATIONS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CF0F6"/>
                </a:solidFill>
                <a:latin typeface="Segoe UI"/>
              </a:rPr>
              <a:t>MandelBrick Contest &amp; Decoding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78992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1672" cy="77724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3500" cy="77724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98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B300"/>
                </a:solidFill>
                <a:latin typeface="Segoe UI"/>
              </a:rPr>
              <a:t>Why capture it:  </a:t>
            </a:r>
            <a:r>
              <a:rPr sz="1400" b="0" i="0">
                <a:solidFill>
                  <a:srgbClr val="ECF0F6"/>
                </a:solidFill>
                <a:latin typeface="Segoe UI"/>
              </a:rPr>
              <a:t>The single highest-stakes objective in extraction mode — carrying the MandelBrick exposes your position to ALL squads, turning the decode station into a multi-team firefight. Shows strategy, risk management, and clutch combat.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6903720" cy="40690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644652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DETECTION CRITERIA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UI Elements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Objective banner 'MandelBrick acquired'; decode progress bar/timer at the Decoding Station; minimap decode marker; 'position exposed to all squads' warning.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Non-UI Method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Distinct decode start/complete audio cue; sharp rise in nearby gunfire density.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Trigger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Decode progress UI appears (template + OCR 'decoding') AND combat activity (kill-feed / damage) occurs within the protection window.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Thresholds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~4-min decode protection window; require ≥2 player kills OR sustained enemy contact to qualify as a 'contested' decode (skip uncontested decodes).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False-Positive Mitigation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Require BOTH decode-bar template AND combat signal; template-match the specific decode bar to avoid confusion with revive/capture bars.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240280"/>
            <a:ext cx="4005072" cy="406908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2359152"/>
            <a:ext cx="361188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CLIP DEFINITION &amp; MGMT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Pre-roll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8 s (lead-up to securing the brick)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Post-roll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5 s after decode completes / extraction starts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Duration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45–60 s (cap)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Naming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DF_OPS_MandelBrick_&lt;map&gt;_&lt;UTC&gt;_&lt;user&gt;.mp4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B300"/>
                </a:solidFill>
                <a:latin typeface="Segoe UI"/>
              </a:rPr>
              <a:t>EVENT 2 · OPERATIONS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CF0F6"/>
                </a:solidFill>
                <a:latin typeface="Segoe UI"/>
              </a:rPr>
              <a:t>Solo Squad Wipe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78992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1672" cy="77724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3500" cy="77724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98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B300"/>
                </a:solidFill>
                <a:latin typeface="Segoe UI"/>
              </a:rPr>
              <a:t>Why capture it:  </a:t>
            </a:r>
            <a:r>
              <a:rPr sz="1400" b="0" i="0">
                <a:solidFill>
                  <a:srgbClr val="ECF0F6"/>
                </a:solidFill>
                <a:latin typeface="Segoe UI"/>
              </a:rPr>
              <a:t>One player eliminating an entire enemy squad single-handedly — the clearest display of individual skill and a staple of highlight reels.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6903720" cy="40690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644652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DETECTION CRITERIA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UI Elements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Rapid stacked kill-feed entries attributed to the local player; 'Enemy eliminated' pop-ups; squad-wipe banner (if shown).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Non-UI Method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Stacking kill-confirm / hitmarker audio cues in quick succession.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Trigger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N kills by the LOCAL player within window T, against members of one enemy squad (e.g., ≥3 kills in ≤30 s).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Thresholds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Kills ≥3 within ≤30–45 s; killer name = local player; player still alive shortly after.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False-Positive Mitigation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OCR-confirm killer = local player; weight real-player kills over AI; require time-clustering &amp; post-wipe survival.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240280"/>
            <a:ext cx="4005072" cy="406908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2359152"/>
            <a:ext cx="361188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CLIP DEFINITION &amp; MGMT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Pre-roll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10 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Post-roll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5 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Duration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25–40 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Naming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DF_OPS_SquadWipe_&lt;map&gt;_&lt;UTC&gt;_&lt;user&gt;.mp4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B300"/>
                </a:solidFill>
                <a:latin typeface="Segoe UI"/>
              </a:rPr>
              <a:t>EVENT 3 · WARFARE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CF0F6"/>
                </a:solidFill>
                <a:latin typeface="Segoe UI"/>
              </a:rPr>
              <a:t>Tank Multi-Kill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78992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1672" cy="77724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3500" cy="77724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98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B300"/>
                </a:solidFill>
                <a:latin typeface="Segoe UI"/>
              </a:rPr>
              <a:t>Why capture it:  </a:t>
            </a:r>
            <a:r>
              <a:rPr sz="1400" b="0" i="0">
                <a:solidFill>
                  <a:srgbClr val="ECF0F6"/>
                </a:solidFill>
                <a:latin typeface="Segoe UI"/>
              </a:rPr>
              <a:t>Vehicle dominance on a massive map — visually spectacular and shows map control and impact. Prime Warfare highlight material.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6903720" cy="40690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644652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DETECTION CRITERIA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UI Elements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Active tank/vehicle HUD overlay (vehicle ammo, reticle, vehicle health) + kill feed showing the tank-cannon weapon icon on multiple kills.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Non-UI Method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Tank main-gun fire audio; vehicle engine ambience confirming the player is the gunner/driver.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Trigger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Tank HUD active AND ≥2–3 kills within ~10–15 s attributed to the player via the tank weapon icon.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Thresholds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Multi-kill ≥2 (double) / ≥3 (triple) in window; weapon icon = tank main gun (not infantry weapon).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False-Positive Mitigation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Confirm tank-HUD template (distinct from infantry HUD); verify kill-feed weapon icon = tank cannon; tag roadkills separately.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240280"/>
            <a:ext cx="4005072" cy="406908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2359152"/>
            <a:ext cx="361188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CLIP DEFINITION &amp; MGMT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Pre-roll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6 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Post-roll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4 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Duration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20–35 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Naming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DF_WAR_TankMultiKill_&lt;map&gt;_&lt;UTC&gt;_&lt;user&gt;.mp4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B300"/>
                </a:solidFill>
                <a:latin typeface="Segoe UI"/>
              </a:rPr>
              <a:t>EVENT 4 · WARFARE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CF0F6"/>
                </a:solidFill>
                <a:latin typeface="Segoe UI"/>
              </a:rPr>
              <a:t>Special Operator Skill Combination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78992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1672" cy="77724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3500" cy="77724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98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B300"/>
                </a:solidFill>
                <a:latin typeface="Segoe UI"/>
              </a:rPr>
              <a:t>Why capture it:  </a:t>
            </a:r>
            <a:r>
              <a:rPr sz="1400" b="0" i="0">
                <a:solidFill>
                  <a:srgbClr val="ECF0F6"/>
                </a:solidFill>
                <a:latin typeface="Segoe UI"/>
              </a:rPr>
              <a:t>Showcases the game's tactical depth — chaining Operator abilities/ultimates into a decisive play. Demonstrates mechanics and coordination viewers love to learn from.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6903720" cy="40690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644652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DETECTION CRITERIA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UI Elements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Ability/ultimate icon state change (ready → activated/on-cooldown); ability HUD; full-screen ult VFX overlay.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Non-UI Method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Signature ability activation SFX / operator voice line; screen-space VFX (drone, smoke, healing aura).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Trigger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Ability/ultimate activation followed by a payoff within ~8 s (≥2 kills or objective captured); optionally ≥2 different abilities chained = 'combo'.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Thresholds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Activation + payoff (≥2 kills / objective) within 8–10 s; cooldown debounce to avoid re-trigger.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False-Positive Mitigation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Tie activation to a kill-feed payoff (don't clip every ability use); template-match specific ability icons; require VFX + kills to co-occur.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240280"/>
            <a:ext cx="4005072" cy="406908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2359152"/>
            <a:ext cx="361188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CLIP DEFINITION &amp; MGMT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Pre-roll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7 s (ability wind-up)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Post-roll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5 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Duration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20–35 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Naming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DF_WAR_OperatorCombo_&lt;operator&gt;_&lt;map&gt;_&lt;UTC&gt;_&lt;user&gt;.mp4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B300"/>
                </a:solidFill>
                <a:latin typeface="Segoe UI"/>
              </a:rPr>
              <a:t>EVENT 5 · BOTH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CF0F6"/>
                </a:solidFill>
                <a:latin typeface="Segoe UI"/>
              </a:rPr>
              <a:t>Clutch 1v4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78992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1672" cy="77724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3500" cy="77724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98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B300"/>
                </a:solidFill>
                <a:latin typeface="Segoe UI"/>
              </a:rPr>
              <a:t>Why capture it:  </a:t>
            </a:r>
            <a:r>
              <a:rPr sz="1400" b="0" i="0">
                <a:solidFill>
                  <a:srgbClr val="ECF0F6"/>
                </a:solidFill>
                <a:latin typeface="Segoe UI"/>
              </a:rPr>
              <a:t>Peak skill expression — the last player alive winning while outnumbered. Classic viral, highly shareable clip material.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6903720" cy="40690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644652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DETECTION CRITERIA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UI Elements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Teammate-status HUD shows all teammates down/dead (player = last alive); nearby enemy count; kill feed of player eliminating multiple enemies.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Non-UI Method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Drop in friendly comms/chatter; absence of revive prompts; tension music ramp.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Trigger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All teammates dead (HUD) AND local player eliminates the remaining enemies while outnumbered (≥1v3 / 1v4) and survives/wins.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Thresholds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Outnumbered ≥1v3 (configurable to 1v4); player secures remaining kills; engagement resolves in player's favour.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False-Positive Mitigation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Verify teammate-status HUD via template (all dead); count player eliminations from kill feed; require post-engagement survival.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240280"/>
            <a:ext cx="4005072" cy="406908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2359152"/>
            <a:ext cx="361188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CLIP DEFINITION &amp; MGMT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Pre-roll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12 s (to establish the odds)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Post-roll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6 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Duration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30–50 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Naming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DF_&lt;mode&gt;_Clutch1v4_&lt;map&gt;_&lt;UTC&gt;_&lt;user&gt;.mp4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B300"/>
                </a:solidFill>
                <a:latin typeface="Segoe UI"/>
              </a:rPr>
              <a:t>EVENT 6 · WARFARE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CF0F6"/>
                </a:solidFill>
                <a:latin typeface="Segoe UI"/>
              </a:rPr>
              <a:t>Clutch in Overtime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78992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1672" cy="77724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63500" cy="77724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98480" cy="7132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FB300"/>
                </a:solidFill>
                <a:latin typeface="Segoe UI"/>
              </a:rPr>
              <a:t>Why capture it:  </a:t>
            </a:r>
            <a:r>
              <a:rPr sz="1400" b="0" i="0">
                <a:solidFill>
                  <a:srgbClr val="ECF0F6"/>
                </a:solidFill>
                <a:latin typeface="Segoe UI"/>
              </a:rPr>
              <a:t>The highest-tension contextual moment — a match-deciding clutch during overtime. Maximum drama and narrative payoff.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6903720" cy="406908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359152"/>
            <a:ext cx="644652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DETECTION CRITERIA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UI Elements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'OVERTIME' banner/indicator on HUD/scoreboard; overtime objective/timer state; combined with clutch conditions (final objective, low tickets).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Non-UI Method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Overtime announcer voice line / audio sting; music intensity spike.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Trigger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Overtime state active (OCR 'OVERTIME') AND a decisive player action (final kills / objective secure-defuse) leading to match end within the overtime window.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Thresholds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Overtime flag = true; decisive action by player; match/round ends (win) shortly after the play.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FF6B6B"/>
                </a:solidFill>
                <a:latin typeface="Segoe UI"/>
              </a:rPr>
              <a:t>False-Positive Mitigation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Require OVERTIME template AND a match-result/objective state change right after the play; trigger only on the impactful action, not every OT tick.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35240" y="2240280"/>
            <a:ext cx="4005072" cy="406908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863840" y="2359152"/>
            <a:ext cx="3611880" cy="3886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B300"/>
                </a:solidFill>
                <a:latin typeface="Segoe UI"/>
              </a:rPr>
              <a:t>CLIP DEFINITION &amp; MGMT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Pre-roll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15 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Post-roll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8 s (include the win/result moment)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Duration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35–55 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250" b="1" i="0">
                <a:solidFill>
                  <a:srgbClr val="49D68B"/>
                </a:solidFill>
                <a:latin typeface="Segoe UI"/>
              </a:rPr>
              <a:t>Naming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ECF0F6"/>
                </a:solidFill>
                <a:latin typeface="Segoe UI"/>
              </a:rPr>
              <a:t>DF_WAR_ClutchOvertime_&lt;map&gt;_&lt;UTC&gt;_&lt;user&gt;.mp4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B300"/>
                </a:solidFill>
                <a:latin typeface="Segoe UI"/>
              </a:rPr>
              <a:t>STEP 4 — CLIP MANAGEMENT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CF0F6"/>
                </a:solidFill>
                <a:latin typeface="Segoe UI"/>
              </a:rPr>
              <a:t>Global Clip Conventions &amp; Quality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078992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486400" cy="4800600"/>
          </a:xfrm>
          <a:prstGeom prst="roundRect">
            <a:avLst/>
          </a:prstGeom>
          <a:solidFill>
            <a:srgbClr val="182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502920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B300"/>
                </a:solidFill>
                <a:latin typeface="Segoe UI"/>
              </a:rPr>
              <a:t>Pre/Post-roll Defaults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5C4FF"/>
                </a:solidFill>
                <a:latin typeface="Segoe UI"/>
              </a:rPr>
              <a:t>Event           Pre/Post        Length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ECF0F6"/>
                </a:solidFill>
                <a:latin typeface="Consolas"/>
              </a:rPr>
              <a:t>MandelBrick       </a:t>
            </a:r>
            <a:r>
              <a:rPr sz="1250" b="0" i="0">
                <a:solidFill>
                  <a:srgbClr val="9AA6B8"/>
                </a:solidFill>
                <a:latin typeface="Consolas"/>
              </a:rPr>
              <a:t>8 s / 5 s     </a:t>
            </a:r>
            <a:r>
              <a:rPr sz="1250" b="0" i="0">
                <a:solidFill>
                  <a:srgbClr val="49D68B"/>
                </a:solidFill>
                <a:latin typeface="Consolas"/>
              </a:rPr>
              <a:t>45–60 s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ECF0F6"/>
                </a:solidFill>
                <a:latin typeface="Consolas"/>
              </a:rPr>
              <a:t>Solo Squad Wipe   </a:t>
            </a:r>
            <a:r>
              <a:rPr sz="1250" b="0" i="0">
                <a:solidFill>
                  <a:srgbClr val="9AA6B8"/>
                </a:solidFill>
                <a:latin typeface="Consolas"/>
              </a:rPr>
              <a:t>10 s / 5 s    </a:t>
            </a:r>
            <a:r>
              <a:rPr sz="1250" b="0" i="0">
                <a:solidFill>
                  <a:srgbClr val="49D68B"/>
                </a:solidFill>
                <a:latin typeface="Consolas"/>
              </a:rPr>
              <a:t>25–40 s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ECF0F6"/>
                </a:solidFill>
                <a:latin typeface="Consolas"/>
              </a:rPr>
              <a:t>Tank Multi-Kill   </a:t>
            </a:r>
            <a:r>
              <a:rPr sz="1250" b="0" i="0">
                <a:solidFill>
                  <a:srgbClr val="9AA6B8"/>
                </a:solidFill>
                <a:latin typeface="Consolas"/>
              </a:rPr>
              <a:t>6 s / 4 s     </a:t>
            </a:r>
            <a:r>
              <a:rPr sz="1250" b="0" i="0">
                <a:solidFill>
                  <a:srgbClr val="49D68B"/>
                </a:solidFill>
                <a:latin typeface="Consolas"/>
              </a:rPr>
              <a:t>20–35 s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ECF0F6"/>
                </a:solidFill>
                <a:latin typeface="Consolas"/>
              </a:rPr>
              <a:t>Operator Combo    </a:t>
            </a:r>
            <a:r>
              <a:rPr sz="1250" b="0" i="0">
                <a:solidFill>
                  <a:srgbClr val="9AA6B8"/>
                </a:solidFill>
                <a:latin typeface="Consolas"/>
              </a:rPr>
              <a:t>7 s / 5 s     </a:t>
            </a:r>
            <a:r>
              <a:rPr sz="1250" b="0" i="0">
                <a:solidFill>
                  <a:srgbClr val="49D68B"/>
                </a:solidFill>
                <a:latin typeface="Consolas"/>
              </a:rPr>
              <a:t>20–35 s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ECF0F6"/>
                </a:solidFill>
                <a:latin typeface="Consolas"/>
              </a:rPr>
              <a:t>Clutch 1v4        </a:t>
            </a:r>
            <a:r>
              <a:rPr sz="1250" b="0" i="0">
                <a:solidFill>
                  <a:srgbClr val="9AA6B8"/>
                </a:solidFill>
                <a:latin typeface="Consolas"/>
              </a:rPr>
              <a:t>12 s / 6 s    </a:t>
            </a:r>
            <a:r>
              <a:rPr sz="1250" b="0" i="0">
                <a:solidFill>
                  <a:srgbClr val="49D68B"/>
                </a:solidFill>
                <a:latin typeface="Consolas"/>
              </a:rPr>
              <a:t>30–50 s</a:t>
            </a:r>
          </a:p>
          <a:p>
            <a:pPr>
              <a:spcAft>
                <a:spcPts val="500"/>
              </a:spcAft>
            </a:pPr>
            <a:r>
              <a:rPr sz="1250" b="1" i="0">
                <a:solidFill>
                  <a:srgbClr val="ECF0F6"/>
                </a:solidFill>
                <a:latin typeface="Consolas"/>
              </a:rPr>
              <a:t>Clutch Overtime   </a:t>
            </a:r>
            <a:r>
              <a:rPr sz="1250" b="0" i="0">
                <a:solidFill>
                  <a:srgbClr val="9AA6B8"/>
                </a:solidFill>
                <a:latin typeface="Consolas"/>
              </a:rPr>
              <a:t>15 s / 8 s    </a:t>
            </a:r>
            <a:r>
              <a:rPr sz="1250" b="0" i="0">
                <a:solidFill>
                  <a:srgbClr val="49D68B"/>
                </a:solidFill>
                <a:latin typeface="Consolas"/>
              </a:rPr>
              <a:t>35–55 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17320"/>
            <a:ext cx="5422392" cy="4800600"/>
          </a:xfrm>
          <a:prstGeom prst="roundRect">
            <a:avLst/>
          </a:prstGeom>
          <a:solidFill>
            <a:srgbClr val="1F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554480"/>
            <a:ext cx="498348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B300"/>
                </a:solidFill>
                <a:latin typeface="Segoe UI"/>
              </a:rPr>
              <a:t>Management Rules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Naming: DF_&lt;MODE&gt;_&lt;EVENT&gt;_&lt;context&gt;_&lt;UTC&gt;_&lt;user&gt;.mp4 — sortable &amp; self-describing.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De-dup / cooldown: ≥20 s gap between clips; merge overlapping detection windows into one clip.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Length guard: min 10 s, hard cap 60 s to keep clips snackable.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Quality: match source resolution (1080p/1440p) at 30–60 fps, H.264 export.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Metadata tags: mode, event type, map, kill count, confidence score.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ECF0F6"/>
                </a:solidFill>
                <a:latin typeface="Segoe UI"/>
              </a:rPr>
              <a:t>•  Confidence scoring: fuse UI + audio + kill-feed signals; auto-publish above threshold, queue the rest for review.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4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201168" cy="68580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B300"/>
                </a:solidFill>
                <a:latin typeface="Segoe UI"/>
              </a:rPr>
              <a:t>SUMMARY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CF0F6"/>
                </a:solidFill>
                <a:latin typeface="Segoe UI"/>
              </a:rPr>
              <a:t>Reliable Detection, Minimal False Positives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78992"/>
            <a:ext cx="2011680" cy="50800"/>
          </a:xfrm>
          <a:prstGeom prst="round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1064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/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35C4FF"/>
                </a:solidFill>
                <a:latin typeface="Segoe UI"/>
              </a:rPr>
              <a:t>Sensor fusion is the key principle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Each event requires ≥2 corroborating signals (UI + audio + scene/state) before a clip is cut — this is the main false-positive defence.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35C4FF"/>
                </a:solidFill>
                <a:latin typeface="Segoe UI"/>
              </a:rPr>
              <a:t>Six events span both modes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Operations contributes objective- &amp; skill-driven moments (MandelBrick, Solo Wipe); Warfare contributes spectacle &amp; drama (Tank, Operator Combo, Clutch 1v4, Clutch Overtime).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35C4FF"/>
                </a:solidFill>
                <a:latin typeface="Segoe UI"/>
              </a:rPr>
              <a:t>Context multiplies value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Overtime and 1v4 conditions act as 'importance multipliers' — same play, far higher viewer payoff, so they get longer pre/post-roll.</a:t>
            </a:r>
          </a:p>
          <a:p>
            <a:pPr algn="l">
              <a:spcBef>
                <a:spcPts val="800"/>
              </a:spcBef>
              <a:spcAft>
                <a:spcPts val="200"/>
              </a:spcAft>
            </a:pPr>
            <a:r>
              <a:rPr sz="1700" b="1" i="0">
                <a:solidFill>
                  <a:srgbClr val="35C4FF"/>
                </a:solidFill>
                <a:latin typeface="Segoe UI"/>
              </a:rPr>
              <a:t>Everything is tunable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ECF0F6"/>
                </a:solidFill>
                <a:latin typeface="Segoe UI"/>
              </a:rPr>
              <a:t>Thresholds, windows, and roll times are parameters — easy to A/B test against creator engagement to refine clip quality over 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1892</Words>
  <Application>Microsoft Office PowerPoint</Application>
  <PresentationFormat>Widescreen</PresentationFormat>
  <Paragraphs>240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Gymnastiar Al Khoarizmy</cp:lastModifiedBy>
  <cp:revision>2</cp:revision>
  <dcterms:created xsi:type="dcterms:W3CDTF">2013-01-27T09:14:16Z</dcterms:created>
  <dcterms:modified xsi:type="dcterms:W3CDTF">2026-06-17T14:49:44Z</dcterms:modified>
  <cp:category/>
</cp:coreProperties>
</file>