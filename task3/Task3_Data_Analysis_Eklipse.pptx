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35C4FF"/>
                </a:solidFill>
                <a:latin typeface="Segoe UI"/>
              </a:rPr>
              <a:t>TASK 3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ECF0F6"/>
                </a:solidFill>
                <a:latin typeface="Segoe UI"/>
              </a:rPr>
              <a:t>Data Analysis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9AA6B8"/>
                </a:solidFill>
                <a:latin typeface="Segoe UI"/>
              </a:rPr>
              <a:t>Key business metrics for Eklipse, extracted with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7548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CF0F6"/>
                </a:solidFill>
                <a:latin typeface="Segoe UI"/>
              </a:rPr>
              <a:t>5 tables  •  5 SQL queries (each joins ≥2 tables)  •  SQLite + Python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AA6B8"/>
                </a:solidFill>
                <a:latin typeface="Segoe UI"/>
              </a:rPr>
              <a:t>Dataset window: streams, clips &amp; premium activity (2023)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35C4FF"/>
                </a:solidFill>
                <a:latin typeface="Segoe UI"/>
              </a:rPr>
              <a:t>STEP 1 — THE DATA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ECF0F6"/>
                </a:solidFill>
                <a:latin typeface="Segoe UI"/>
              </a:rPr>
              <a:t>Dataset &amp;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011680" cy="508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484632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50292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B300"/>
                </a:solidFill>
                <a:latin typeface="Segoe UI"/>
              </a:rPr>
              <a:t>5 tables (SQL DB export)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35C4FF"/>
                </a:solidFill>
                <a:latin typeface="Consolas"/>
              </a:rPr>
              <a:t>gamesession  </a:t>
            </a:r>
            <a:r>
              <a:rPr sz="1400" b="1" i="0">
                <a:solidFill>
                  <a:srgbClr val="49D68B"/>
                </a:solidFill>
                <a:latin typeface="Consolas"/>
              </a:rPr>
              <a:t>37,579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9AA6B8"/>
                </a:solidFill>
                <a:latin typeface="Segoe UI"/>
              </a:rPr>
              <a:t>   streams users submitted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35C4FF"/>
                </a:solidFill>
                <a:latin typeface="Consolas"/>
              </a:rPr>
              <a:t>clips  </a:t>
            </a:r>
            <a:r>
              <a:rPr sz="1400" b="1" i="0">
                <a:solidFill>
                  <a:srgbClr val="49D68B"/>
                </a:solidFill>
                <a:latin typeface="Consolas"/>
              </a:rPr>
              <a:t>552,031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9AA6B8"/>
                </a:solidFill>
                <a:latin typeface="Segoe UI"/>
              </a:rPr>
              <a:t>   clips generated (AI / edited)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35C4FF"/>
                </a:solidFill>
                <a:latin typeface="Consolas"/>
              </a:rPr>
              <a:t>downloaded_clips  </a:t>
            </a:r>
            <a:r>
              <a:rPr sz="1400" b="1" i="0">
                <a:solidFill>
                  <a:srgbClr val="49D68B"/>
                </a:solidFill>
                <a:latin typeface="Consolas"/>
              </a:rPr>
              <a:t>12,938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9AA6B8"/>
                </a:solidFill>
                <a:latin typeface="Segoe UI"/>
              </a:rPr>
              <a:t>   clip download actions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35C4FF"/>
                </a:solidFill>
                <a:latin typeface="Consolas"/>
              </a:rPr>
              <a:t>shared_clips  </a:t>
            </a:r>
            <a:r>
              <a:rPr sz="1400" b="1" i="0">
                <a:solidFill>
                  <a:srgbClr val="49D68B"/>
                </a:solidFill>
                <a:latin typeface="Consolas"/>
              </a:rPr>
              <a:t>5,798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9AA6B8"/>
                </a:solidFill>
                <a:latin typeface="Segoe UI"/>
              </a:rPr>
              <a:t>   clip share / schedule actions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35C4FF"/>
                </a:solidFill>
                <a:latin typeface="Consolas"/>
              </a:rPr>
              <a:t>premium  </a:t>
            </a:r>
            <a:r>
              <a:rPr sz="1400" b="1" i="0">
                <a:solidFill>
                  <a:srgbClr val="49D68B"/>
                </a:solidFill>
                <a:latin typeface="Consolas"/>
              </a:rPr>
              <a:t>384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9AA6B8"/>
                </a:solidFill>
                <a:latin typeface="Segoe UI"/>
              </a:rPr>
              <a:t>   premium subscription records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50" b="0" i="0">
                <a:solidFill>
                  <a:srgbClr val="9AA6B8"/>
                </a:solidFill>
                <a:latin typeface="Segoe UI"/>
              </a:rPr>
              <a:t>Linked by user_id, clips.id ↔ clip_id, gamesession.id ↔ gamesession_Id.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422392" cy="484632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08760"/>
            <a:ext cx="4983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B300"/>
                </a:solidFill>
                <a:latin typeface="Segoe UI"/>
              </a:rPr>
              <a:t>Approach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ECF0F6"/>
                </a:solidFill>
                <a:latin typeface="Segoe UI"/>
              </a:rPr>
              <a:t>•  Loaded all 5 CSVs into a SQLite database.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ECF0F6"/>
                </a:solidFill>
                <a:latin typeface="Segoe UI"/>
              </a:rPr>
              <a:t>•  Wrote 5 SQL queries — each JOINs ≥2 tables — to extract every metric.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ECF0F6"/>
                </a:solidFill>
                <a:latin typeface="Segoe UI"/>
              </a:rPr>
              <a:t>•  Ran them programmatically; used Python (pandas) only for light aggregation &amp; the visuals.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ECF0F6"/>
                </a:solidFill>
                <a:latin typeface="Segoe UI"/>
              </a:rPr>
              <a:t>•  Every number in this deck is a real query output, not an estimate.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35C4FF"/>
                </a:solidFill>
                <a:latin typeface="Segoe UI"/>
              </a:rPr>
              <a:t>STEP 2 — WHAT TO TRACK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ECF0F6"/>
                </a:solidFill>
                <a:latin typeface="Segoe UI"/>
              </a:rPr>
              <a:t>5 Metrics Eklipse Should Watch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011680" cy="508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02920" cy="4572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0141C"/>
                </a:solidFill>
                <a:latin typeface="Segoe UI"/>
              </a:rPr>
              <a:t>#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417320"/>
            <a:ext cx="3108960" cy="4572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417320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0141C"/>
                </a:solidFill>
                <a:latin typeface="Segoe UI"/>
              </a:rPr>
              <a:t>Metric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417320"/>
            <a:ext cx="4114800" cy="4572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141732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0141C"/>
                </a:solidFill>
                <a:latin typeface="Segoe UI"/>
              </a:rPr>
              <a:t>What it answers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417320"/>
            <a:ext cx="3364992" cy="4572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417320"/>
            <a:ext cx="33649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0141C"/>
                </a:solidFill>
                <a:latin typeface="Segoe UI"/>
              </a:rPr>
              <a:t>Tables joined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874520"/>
            <a:ext cx="502920" cy="82296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874520"/>
            <a:ext cx="35661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C4FF"/>
                </a:solidFill>
                <a:latin typeface="Segoe UI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1874520"/>
            <a:ext cx="3108960" cy="82296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" y="1874520"/>
            <a:ext cx="296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F0F6"/>
                </a:solidFill>
                <a:latin typeface="Segoe UI"/>
              </a:rPr>
              <a:t>Clip Utilization Funnel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1874520"/>
            <a:ext cx="4114800" cy="82296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33672" y="1874520"/>
            <a:ext cx="396849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Are generated clips actually used?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1874520"/>
            <a:ext cx="3364992" cy="82296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1874520"/>
            <a:ext cx="321868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ECF0F6"/>
                </a:solidFill>
                <a:latin typeface="Consolas"/>
              </a:rPr>
              <a:t>clips + downloaded + shared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697480"/>
            <a:ext cx="502920" cy="82296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697480"/>
            <a:ext cx="35661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C4FF"/>
                </a:solidFill>
                <a:latin typeface="Segoe UI"/>
              </a:rPr>
              <a:t>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2697480"/>
            <a:ext cx="3108960" cy="82296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" y="2697480"/>
            <a:ext cx="296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F0F6"/>
                </a:solidFill>
                <a:latin typeface="Segoe UI"/>
              </a:rPr>
              <a:t>Free → Premium Conversion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2697480"/>
            <a:ext cx="4114800" cy="82296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33672" y="2697480"/>
            <a:ext cx="396849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Is monetisation working?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2697480"/>
            <a:ext cx="3364992" cy="82296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8472" y="2697480"/>
            <a:ext cx="321868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ECF0F6"/>
                </a:solidFill>
                <a:latin typeface="Consolas"/>
              </a:rPr>
              <a:t>gamesession + premium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520440"/>
            <a:ext cx="502920" cy="82296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520440"/>
            <a:ext cx="35661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C4FF"/>
                </a:solidFill>
                <a:latin typeface="Segoe UI"/>
              </a:rPr>
              <a:t>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1560" y="3520440"/>
            <a:ext cx="3108960" cy="82296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4712" y="3520440"/>
            <a:ext cx="296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F0F6"/>
                </a:solidFill>
                <a:latin typeface="Segoe UI"/>
              </a:rPr>
              <a:t>Premium Engagement Lift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60520" y="3520440"/>
            <a:ext cx="4114800" cy="82296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33672" y="3520440"/>
            <a:ext cx="396849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Do premium users use more?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3520440"/>
            <a:ext cx="3364992" cy="82296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48472" y="3520440"/>
            <a:ext cx="321868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ECF0F6"/>
                </a:solidFill>
                <a:latin typeface="Consolas"/>
              </a:rPr>
              <a:t>clips + premium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343400"/>
            <a:ext cx="502920" cy="82296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343400"/>
            <a:ext cx="35661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C4FF"/>
                </a:solidFill>
                <a:latin typeface="Segoe UI"/>
              </a:rPr>
              <a:t>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51560" y="4343400"/>
            <a:ext cx="3108960" cy="82296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4712" y="4343400"/>
            <a:ext cx="296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F0F6"/>
                </a:solidFill>
                <a:latin typeface="Segoe UI"/>
              </a:rPr>
              <a:t>Top Games by Clip Yield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60520" y="4343400"/>
            <a:ext cx="4114800" cy="82296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33672" y="4343400"/>
            <a:ext cx="396849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Where is the value concentrated?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75320" y="4343400"/>
            <a:ext cx="3364992" cy="82296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48472" y="4343400"/>
            <a:ext cx="321868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ECF0F6"/>
                </a:solidFill>
                <a:latin typeface="Consolas"/>
              </a:rPr>
              <a:t>gamesession + clips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166360"/>
            <a:ext cx="502920" cy="82296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" y="5166360"/>
            <a:ext cx="35661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C4FF"/>
                </a:solidFill>
                <a:latin typeface="Segoe UI"/>
              </a:rPr>
              <a:t>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51560" y="5166360"/>
            <a:ext cx="3108960" cy="82296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24712" y="5166360"/>
            <a:ext cx="296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F0F6"/>
                </a:solidFill>
                <a:latin typeface="Segoe UI"/>
              </a:rPr>
              <a:t>Premium Churn vs Engagement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60520" y="5166360"/>
            <a:ext cx="4114800" cy="82296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33672" y="5166360"/>
            <a:ext cx="396849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Who churns, and why?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75320" y="5166360"/>
            <a:ext cx="3364992" cy="82296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48472" y="5166360"/>
            <a:ext cx="321868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ECF0F6"/>
                </a:solidFill>
                <a:latin typeface="Consolas"/>
              </a:rPr>
              <a:t>premium + clips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35C4FF"/>
                </a:solidFill>
                <a:latin typeface="Segoe UI"/>
              </a:rPr>
              <a:t>METRIC 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ECF0F6"/>
                </a:solidFill>
                <a:latin typeface="Segoe UI"/>
              </a:rPr>
              <a:t>Clip Utilization Funnel (CTT)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011680" cy="508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91672" cy="86868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63500" cy="86868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35024"/>
            <a:ext cx="10698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1" i="0">
                <a:solidFill>
                  <a:srgbClr val="FFB300"/>
                </a:solidFill>
                <a:latin typeface="Segoe UI"/>
              </a:rPr>
              <a:t>Why track it:  </a:t>
            </a:r>
            <a:r>
              <a:rPr sz="1350" b="0" i="0">
                <a:solidFill>
                  <a:srgbClr val="ECF0F6"/>
                </a:solidFill>
                <a:latin typeface="Segoe UI"/>
              </a:rPr>
              <a:t>Eklipse's core value is clips people actually use. Generated-but-unused clips = wasted value.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3575304" cy="155448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95728"/>
            <a:ext cx="3575304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5C4FF"/>
                </a:solidFill>
                <a:latin typeface="Segoe UI"/>
              </a:rPr>
              <a:t>552,031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AA6B8"/>
                </a:solidFill>
                <a:latin typeface="Segoe UI"/>
              </a:rPr>
              <a:t>Clips generated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2331720"/>
            <a:ext cx="3575304" cy="155448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2395728"/>
            <a:ext cx="3575304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6B6B"/>
                </a:solidFill>
                <a:latin typeface="Segoe UI"/>
              </a:rPr>
              <a:t>2.34%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AA6B8"/>
                </a:solidFill>
                <a:latin typeface="Segoe UI"/>
              </a:rPr>
              <a:t>Downloaded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2331720"/>
            <a:ext cx="3575304" cy="155448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5008" y="2395728"/>
            <a:ext cx="3575304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6B6B"/>
                </a:solidFill>
                <a:latin typeface="Segoe UI"/>
              </a:rPr>
              <a:t>0.54%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AA6B8"/>
                </a:solidFill>
                <a:latin typeface="Segoe UI"/>
              </a:rPr>
              <a:t>Shared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69080"/>
            <a:ext cx="11091672" cy="214884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87952"/>
            <a:ext cx="106984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1" i="0">
                <a:solidFill>
                  <a:srgbClr val="35C4FF"/>
                </a:solidFill>
                <a:latin typeface="Consolas"/>
              </a:rPr>
              <a:t>SQL joins:  </a:t>
            </a:r>
            <a:r>
              <a:rPr sz="1250" b="0" i="0">
                <a:solidFill>
                  <a:srgbClr val="ECF0F6"/>
                </a:solidFill>
                <a:latin typeface="Consolas"/>
              </a:rPr>
              <a:t>clips  LEFT JOIN downloaded_clips ON id=clip_id  LEFT JOIN shared_clips ON id=clip_id</a:t>
            </a:r>
          </a:p>
          <a:p>
            <a:pPr algn="l">
              <a:spcBef>
                <a:spcPts val="800"/>
              </a:spcBef>
              <a:spcAft>
                <a:spcPts val="300"/>
              </a:spcAft>
            </a:pPr>
            <a:r>
              <a:rPr sz="1350" b="1" i="0">
                <a:solidFill>
                  <a:srgbClr val="FFB300"/>
                </a:solidFill>
                <a:latin typeface="Segoe UI"/>
              </a:rPr>
              <a:t>Insight &amp; recommendation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Only ~1 in 43 generated clips is downloaded and ~1 in 185 is shared — the biggest improvement lever in the funnel.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Action: improve clip relevance/ranking and reduce friction (one-click download/share to TikTok).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35C4FF"/>
                </a:solidFill>
                <a:latin typeface="Segoe UI"/>
              </a:rPr>
              <a:t>METRIC 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ECF0F6"/>
                </a:solidFill>
                <a:latin typeface="Segoe UI"/>
              </a:rPr>
              <a:t>Free → Premium Conversion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011680" cy="508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91672" cy="86868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63500" cy="86868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35024"/>
            <a:ext cx="10698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1" i="0">
                <a:solidFill>
                  <a:srgbClr val="FFB300"/>
                </a:solidFill>
                <a:latin typeface="Segoe UI"/>
              </a:rPr>
              <a:t>Why track it:  </a:t>
            </a:r>
            <a:r>
              <a:rPr sz="1350" b="0" i="0">
                <a:solidFill>
                  <a:srgbClr val="ECF0F6"/>
                </a:solidFill>
                <a:latin typeface="Segoe UI"/>
              </a:rPr>
              <a:t>The headline monetisation metric: what share of active users (≥1 stream) ever go premium.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3575304" cy="155448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95728"/>
            <a:ext cx="3575304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5C4FF"/>
                </a:solidFill>
                <a:latin typeface="Segoe UI"/>
              </a:rPr>
              <a:t>4,322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AA6B8"/>
                </a:solidFill>
                <a:latin typeface="Segoe UI"/>
              </a:rPr>
              <a:t>Active 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2331720"/>
            <a:ext cx="3575304" cy="155448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2395728"/>
            <a:ext cx="3575304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49D68B"/>
                </a:solidFill>
                <a:latin typeface="Segoe UI"/>
              </a:rPr>
              <a:t>333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AA6B8"/>
                </a:solidFill>
                <a:latin typeface="Segoe UI"/>
              </a:rPr>
              <a:t>Converted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2331720"/>
            <a:ext cx="3575304" cy="155448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5008" y="2395728"/>
            <a:ext cx="3575304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49D68B"/>
                </a:solidFill>
                <a:latin typeface="Segoe UI"/>
              </a:rPr>
              <a:t>7.7%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AA6B8"/>
                </a:solidFill>
                <a:latin typeface="Segoe UI"/>
              </a:rPr>
              <a:t>Conversion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69080"/>
            <a:ext cx="11091672" cy="214884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87952"/>
            <a:ext cx="106984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1" i="0">
                <a:solidFill>
                  <a:srgbClr val="35C4FF"/>
                </a:solidFill>
                <a:latin typeface="Consolas"/>
              </a:rPr>
              <a:t>SQL joins:  </a:t>
            </a:r>
            <a:r>
              <a:rPr sz="1250" b="0" i="0">
                <a:solidFill>
                  <a:srgbClr val="ECF0F6"/>
                </a:solidFill>
                <a:latin typeface="Consolas"/>
              </a:rPr>
              <a:t>gamesession  LEFT JOIN premium ON user_id</a:t>
            </a:r>
          </a:p>
          <a:p>
            <a:pPr algn="l">
              <a:spcBef>
                <a:spcPts val="800"/>
              </a:spcBef>
              <a:spcAft>
                <a:spcPts val="300"/>
              </a:spcAft>
            </a:pPr>
            <a:r>
              <a:rPr sz="1350" b="1" i="0">
                <a:solidFill>
                  <a:srgbClr val="FFB300"/>
                </a:solidFill>
                <a:latin typeface="Segoe UI"/>
              </a:rPr>
              <a:t>Insight &amp; recommendation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7.7% is solid for a freemium product (typical benchmark is 2–5%).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Action: protect this funnel; A/B test upgrade prompts at high-intent moments (e.g. right after a share).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35C4FF"/>
                </a:solidFill>
                <a:latin typeface="Segoe UI"/>
              </a:rPr>
              <a:t>METRIC 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ECF0F6"/>
                </a:solidFill>
                <a:latin typeface="Segoe UI"/>
              </a:rPr>
              <a:t>Premium Engagement Lift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011680" cy="508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91672" cy="86868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63500" cy="86868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35024"/>
            <a:ext cx="10698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1" i="0">
                <a:solidFill>
                  <a:srgbClr val="FFB300"/>
                </a:solidFill>
                <a:latin typeface="Segoe UI"/>
              </a:rPr>
              <a:t>Why track it:  </a:t>
            </a:r>
            <a:r>
              <a:rPr sz="1350" b="0" i="0">
                <a:solidFill>
                  <a:srgbClr val="ECF0F6"/>
                </a:solidFill>
                <a:latin typeface="Segoe UI"/>
              </a:rPr>
              <a:t>If premium users create far more clips, it validates the tier; if not, value lives in features.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3575304" cy="155448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95728"/>
            <a:ext cx="3575304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49D68B"/>
                </a:solidFill>
                <a:latin typeface="Segoe UI"/>
              </a:rPr>
              <a:t>125.0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AA6B8"/>
                </a:solidFill>
                <a:latin typeface="Segoe UI"/>
              </a:rPr>
              <a:t>Premium avg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2331720"/>
            <a:ext cx="3575304" cy="155448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2395728"/>
            <a:ext cx="3575304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5C4FF"/>
                </a:solidFill>
                <a:latin typeface="Segoe UI"/>
              </a:rPr>
              <a:t>120.6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AA6B8"/>
                </a:solidFill>
                <a:latin typeface="Segoe UI"/>
              </a:rPr>
              <a:t>Free avg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2331720"/>
            <a:ext cx="3575304" cy="155448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5008" y="2395728"/>
            <a:ext cx="3575304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6B6B"/>
                </a:solidFill>
                <a:latin typeface="Segoe UI"/>
              </a:rPr>
              <a:t>+3.6%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AA6B8"/>
                </a:solidFill>
                <a:latin typeface="Segoe UI"/>
              </a:rPr>
              <a:t>Lift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69080"/>
            <a:ext cx="11091672" cy="214884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87952"/>
            <a:ext cx="106984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1" i="0">
                <a:solidFill>
                  <a:srgbClr val="35C4FF"/>
                </a:solidFill>
                <a:latin typeface="Consolas"/>
              </a:rPr>
              <a:t>SQL joins:  </a:t>
            </a:r>
            <a:r>
              <a:rPr sz="1250" b="0" i="0">
                <a:solidFill>
                  <a:srgbClr val="ECF0F6"/>
                </a:solidFill>
                <a:latin typeface="Consolas"/>
              </a:rPr>
              <a:t>clips (per-user) LEFT JOIN premium ON user_id</a:t>
            </a:r>
          </a:p>
          <a:p>
            <a:pPr algn="l">
              <a:spcBef>
                <a:spcPts val="800"/>
              </a:spcBef>
              <a:spcAft>
                <a:spcPts val="300"/>
              </a:spcAft>
            </a:pPr>
            <a:r>
              <a:rPr sz="1350" b="1" i="0">
                <a:solidFill>
                  <a:srgbClr val="FFB300"/>
                </a:solidFill>
                <a:latin typeface="Segoe UI"/>
              </a:rPr>
              <a:t>Insight &amp; recommendation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Premium users barely out-create free users — raw clip volume is NOT what differentiates premium.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Action: lead premium messaging with feature value (CTT, scheduling, higher quality), not 'more clips'.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35C4FF"/>
                </a:solidFill>
                <a:latin typeface="Segoe UI"/>
              </a:rPr>
              <a:t>METRIC 4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ECF0F6"/>
                </a:solidFill>
                <a:latin typeface="Segoe UI"/>
              </a:rPr>
              <a:t>Top Games by Clip Yield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011680" cy="508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91672" cy="86868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63500" cy="86868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35024"/>
            <a:ext cx="10698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1" i="0">
                <a:solidFill>
                  <a:srgbClr val="FFB300"/>
                </a:solidFill>
                <a:latin typeface="Segoe UI"/>
              </a:rPr>
              <a:t>Why track it:  </a:t>
            </a:r>
            <a:r>
              <a:rPr sz="1350" b="0" i="0">
                <a:solidFill>
                  <a:srgbClr val="ECF0F6"/>
                </a:solidFill>
                <a:latin typeface="Segoe UI"/>
              </a:rPr>
              <a:t>Eklipse runs per-game AI models; volume &amp; clips-per-stream show where to invest.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3575304" cy="155448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95728"/>
            <a:ext cx="3575304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5C4FF"/>
                </a:solidFill>
                <a:latin typeface="Segoe UI"/>
              </a:rPr>
              <a:t>Warzone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AA6B8"/>
                </a:solidFill>
                <a:latin typeface="Segoe UI"/>
              </a:rPr>
              <a:t>Top by volume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2331720"/>
            <a:ext cx="3575304" cy="155448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2395728"/>
            <a:ext cx="3575304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49D68B"/>
                </a:solidFill>
                <a:latin typeface="Segoe UI"/>
              </a:rPr>
              <a:t>139,790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AA6B8"/>
                </a:solidFill>
                <a:latin typeface="Segoe UI"/>
              </a:rPr>
              <a:t>Warzone clips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2331720"/>
            <a:ext cx="3575304" cy="155448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5008" y="2395728"/>
            <a:ext cx="3575304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49D68B"/>
                </a:solidFill>
                <a:latin typeface="Segoe UI"/>
              </a:rPr>
              <a:t>LoL 24.4/stream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AA6B8"/>
                </a:solidFill>
                <a:latin typeface="Segoe UI"/>
              </a:rPr>
              <a:t>Highest yield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69080"/>
            <a:ext cx="11091672" cy="214884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87952"/>
            <a:ext cx="106984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1" i="0">
                <a:solidFill>
                  <a:srgbClr val="35C4FF"/>
                </a:solidFill>
                <a:latin typeface="Consolas"/>
              </a:rPr>
              <a:t>SQL joins:  </a:t>
            </a:r>
            <a:r>
              <a:rPr sz="1250" b="0" i="0">
                <a:solidFill>
                  <a:srgbClr val="ECF0F6"/>
                </a:solidFill>
                <a:latin typeface="Consolas"/>
              </a:rPr>
              <a:t>gamesession  JOIN clips ON gamesession.id = clips.gamesession_Id  (GROUP BY game_name)</a:t>
            </a:r>
          </a:p>
          <a:p>
            <a:pPr algn="l">
              <a:spcBef>
                <a:spcPts val="800"/>
              </a:spcBef>
              <a:spcAft>
                <a:spcPts val="300"/>
              </a:spcAft>
            </a:pPr>
            <a:r>
              <a:rPr sz="1350" b="1" i="0">
                <a:solidFill>
                  <a:srgbClr val="FFB300"/>
                </a:solidFill>
                <a:latin typeface="Segoe UI"/>
              </a:rPr>
              <a:t>Insight &amp; recommendation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COD Warzone drives the most clips overall; LoL, WoW, SMITE &amp; Rocket League produce the most clips per stream (~24).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Action: prioritise model quality for top-volume titles and feature high-yield games in growth campaigns.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35C4FF"/>
                </a:solidFill>
                <a:latin typeface="Segoe UI"/>
              </a:rPr>
              <a:t>METRIC 5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ECF0F6"/>
                </a:solidFill>
                <a:latin typeface="Segoe UI"/>
              </a:rPr>
              <a:t>Premium Churn vs Engagement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011680" cy="508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91672" cy="86868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63500" cy="86868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35024"/>
            <a:ext cx="10698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1" i="0">
                <a:solidFill>
                  <a:srgbClr val="FFB300"/>
                </a:solidFill>
                <a:latin typeface="Segoe UI"/>
              </a:rPr>
              <a:t>Why track it:  </a:t>
            </a:r>
            <a:r>
              <a:rPr sz="1350" b="0" i="0">
                <a:solidFill>
                  <a:srgbClr val="ECF0F6"/>
                </a:solidFill>
                <a:latin typeface="Segoe UI"/>
              </a:rPr>
              <a:t>Churn is the silent killer; linking it to engagement turns it into an actionable signal.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3575304" cy="155448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95728"/>
            <a:ext cx="3575304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6B6B"/>
                </a:solidFill>
                <a:latin typeface="Segoe UI"/>
              </a:rPr>
              <a:t>32%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AA6B8"/>
                </a:solidFill>
                <a:latin typeface="Segoe UI"/>
              </a:rPr>
              <a:t>Churn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2331720"/>
            <a:ext cx="3575304" cy="155448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2395728"/>
            <a:ext cx="3575304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6B6B"/>
                </a:solidFill>
                <a:latin typeface="Segoe UI"/>
              </a:rPr>
              <a:t>106.8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AA6B8"/>
                </a:solidFill>
                <a:latin typeface="Segoe UI"/>
              </a:rPr>
              <a:t>Churned avg clips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2331720"/>
            <a:ext cx="3575304" cy="155448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5008" y="2395728"/>
            <a:ext cx="3575304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49D68B"/>
                </a:solidFill>
                <a:latin typeface="Segoe UI"/>
              </a:rPr>
              <a:t>134.7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AA6B8"/>
                </a:solidFill>
                <a:latin typeface="Segoe UI"/>
              </a:rPr>
              <a:t>Retained avg clips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69080"/>
            <a:ext cx="11091672" cy="214884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87952"/>
            <a:ext cx="106984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1" i="0">
                <a:solidFill>
                  <a:srgbClr val="35C4FF"/>
                </a:solidFill>
                <a:latin typeface="Consolas"/>
              </a:rPr>
              <a:t>SQL joins:  </a:t>
            </a:r>
            <a:r>
              <a:rPr sz="1250" b="0" i="0">
                <a:solidFill>
                  <a:srgbClr val="ECF0F6"/>
                </a:solidFill>
                <a:latin typeface="Consolas"/>
              </a:rPr>
              <a:t>premium (per-user) LEFT JOIN clips (per-user) ON user_id</a:t>
            </a:r>
          </a:p>
          <a:p>
            <a:pPr algn="l">
              <a:spcBef>
                <a:spcPts val="800"/>
              </a:spcBef>
              <a:spcAft>
                <a:spcPts val="300"/>
              </a:spcAft>
            </a:pPr>
            <a:r>
              <a:rPr sz="1350" b="1" i="0">
                <a:solidFill>
                  <a:srgbClr val="FFB300"/>
                </a:solidFill>
                <a:latin typeface="Segoe UI"/>
              </a:rPr>
              <a:t>Insight &amp; recommendation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Churned members generated ~21% fewer clips than retained ones — low engagement precedes cancellation.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Action: monitor early-weeks clip activity; trigger onboarding/save-flows for low-engagement premium users.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35C4FF"/>
                </a:solidFill>
                <a:latin typeface="Segoe UI"/>
              </a:rPr>
              <a:t>CONCLUSION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ECF0F6"/>
                </a:solidFill>
                <a:latin typeface="Segoe UI"/>
              </a:rPr>
              <a:t>What the Numbers Say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011680" cy="508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484632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50292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B300"/>
                </a:solidFill>
                <a:latin typeface="Segoe UI"/>
              </a:rPr>
              <a:t>Headline findings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ECF0F6"/>
                </a:solidFill>
                <a:latin typeface="Segoe UI"/>
              </a:rPr>
              <a:t>•  Clip utilization is the #1 gap: only 2.3% downloaded, 0.5% shared.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ECF0F6"/>
                </a:solidFill>
                <a:latin typeface="Segoe UI"/>
              </a:rPr>
              <a:t>•  Conversion is healthy at 7.7% of active users.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ECF0F6"/>
                </a:solidFill>
                <a:latin typeface="Segoe UI"/>
              </a:rPr>
              <a:t>•  Premium users barely out-create free users (125 vs 121) — value is in features, not volume.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ECF0F6"/>
                </a:solidFill>
                <a:latin typeface="Segoe UI"/>
              </a:rPr>
              <a:t>•  COD Warzone dominates volume; LoL/WoW/SMITE lead clips-per-stream.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ECF0F6"/>
                </a:solidFill>
                <a:latin typeface="Segoe UI"/>
              </a:rPr>
              <a:t>•  Churned premium users were less engaged (107 vs 135 clips).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422392" cy="484632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08760"/>
            <a:ext cx="4983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B300"/>
                </a:solidFill>
                <a:latin typeface="Segoe UI"/>
              </a:rPr>
              <a:t>Recommended actions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49D68B"/>
                </a:solidFill>
                <a:latin typeface="Segoe UI"/>
              </a:rPr>
              <a:t>•  Boost clip relevance &amp; make download/share 1-click — small lifts move a huge base.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49D68B"/>
                </a:solidFill>
                <a:latin typeface="Segoe UI"/>
              </a:rPr>
              <a:t>•  Surface premium-only value (CTT, scheduling, quality) since clip volume alone doesn't differentiate.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49D68B"/>
                </a:solidFill>
                <a:latin typeface="Segoe UI"/>
              </a:rPr>
              <a:t>•  Use early engagement (clips in first weeks) as a churn early-warning to trigger save-flows.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49D68B"/>
                </a:solidFill>
                <a:latin typeface="Segoe UI"/>
              </a:rPr>
              <a:t>•  Double down on high-yield games for model quality &amp; partnerships.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49D68B"/>
                </a:solidFill>
                <a:latin typeface="Segoe UI"/>
              </a:rPr>
              <a:t>•  Track these 5 metrics on a weekly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